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9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ОТДЕЛА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Прогрев в 2026 году: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изменилось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4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Каркас прогрева не менялся годами. Менялась среда — площадка, право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4D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терпение аудитории. Этот файл про среду и про правила, которые из неё следуют.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Любой прогрев сверяется с этими правилами ДО написания первого дня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ТРОГАТЬ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не изменилось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6126480"/>
                <a:gridCol w="47548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держится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Порядок состояний: вижу → верю → дело не во мне → способ есть → хочу → жду → взял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порядок принятия решения, а не приём площадки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Инфоповод как начало любой истории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«сегодня произошло» сторис превращается в лекцию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Точка А→Б, показанная фотографиями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доказательство сильнее утверждения в любой год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Сначала ценность результата, потом цена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первая названная цифра задаёт шкалу для второй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Возражения снимаются реальными скринами из директа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выдуманное возражение звучит как выдуманное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 призыв в одном окне продаж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действия на выбор равны отсутствию действия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Обещание всегда в паре с условием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условия оно не защищает ни продажу, ни от возврата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№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Сторис ранжируются по отношениям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 официально отказался от единого «алгоритма»: у каждого формата своя система ранжирования. Сторис ранжируются не по качеству контента, а по отношениям — история просмотров, ответы в директ, частота взаимодействия.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5420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Ответы в директ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самый сильный сигнал: человек написал вам — значит вы для него важны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23317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5420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Касания стикеров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1772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опрос, вопрос, реакция — всё это взаимодействие, а не просто просмотр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46720" y="23317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54203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Частота возврата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21040" y="29718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тот, кто смотрит вас каждый день, видит вас первым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881360" cy="1417320"/>
          </a:xfrm>
          <a:prstGeom prst="roundRect">
            <a:avLst>
              <a:gd name="adj" fmla="val 5161"/>
            </a:avLst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60120" y="45262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9A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Правило, которое из этого следует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486460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 ставится каждый день прогрева, без исключений. Опрос работает дважды: собирает данные и возражения — и покупает вам место в начале ленты на завтра. Пропущенный опрос стоит охвата, а не только ответов.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ИЗМЕНЕНИЯ № 2 И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Пересылки важнее лайков. Оригинальность обязательна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011680"/>
          </a:xfrm>
          <a:prstGeom prst="roundRect">
            <a:avLst>
              <a:gd name="adj" fmla="val 3636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подтверждённых сигнала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121408"/>
            <a:ext cx="4800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просмотра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пересылки в личные сообщения на охват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лайки на охват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962656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каждом рилсе — строка, которую хочется отправить конкретному человеку. Не «сохрани», а «отправь тому, кто третий год собирается».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600200"/>
            <a:ext cx="5349240" cy="2011680"/>
          </a:xfrm>
          <a:prstGeom prst="roundRect">
            <a:avLst>
              <a:gd name="adj" fmla="val 3636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1783080"/>
            <a:ext cx="4800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Оригинальность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46520" y="210312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+40–60 %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446520" y="2697480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распространения у оригинального контента. Аккаунты с 10+ репостами чужого за 30 дней исключаются из рекомендаций.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0690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Чужие нарезки, тренды с чужим видеорядом и перезаливы в период запуска — прямой убыток охвата ровно в те недели, когда охват нужнее всего. Всё снимается своё, даже криво.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5120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Источники: Later, Hootsuite, Dataslayer, Creatorflow, Outfame — ссылки в текстовой версии правил.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№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мы не автоматизируем директ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881360" cy="914400"/>
        </p:xfrm>
        <a:graphic>
          <a:graphicData uri="http://schemas.openxmlformats.org/drawingml/2006/table">
            <a:tbl>
              <a:tblPr/>
              <a:tblGrid>
                <a:gridCol w="6126480"/>
                <a:gridCol w="47548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Ограничение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Значение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Автосообщений в час на аккаунт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Автосообщений одному человеку с триггера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за 24 часа  (правило 2026)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Первое сообщение после триггера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один блок: текст или картинка с кнопками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Холодные рассылки тем, кто не писал первым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запрещены на уровне 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Бесплатный тариф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активных контактов в месяц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160520"/>
            <a:ext cx="10881360" cy="1691640"/>
          </a:xfrm>
          <a:prstGeom prst="roundRect">
            <a:avLst>
              <a:gd name="adj" fmla="val 4324"/>
            </a:avLst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0120" y="43434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 отдела: на дорогом продукте директ не автоматизируется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60120" y="470916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автосообщение в сутки делает бессмысленной саму идею многократных касаний. Один блок в первом сообщении — это ссылка и всё: ни квалификации, ни разговора. А дорогое покупают после разговора с человеком — бот на входе сжигает тёплый контакт, который стоил двух недель прогрева.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этого: ссылка на анкету в сторис → анкета → обзвон живым менеджером.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№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Ажиотаж только показанный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Тренд 2026 — усталость от идеальных лиц и растущих графиков. Работают усталость, сомнения, признанные ошибки.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345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ЗАЯВЛЕННЫЙ — НЕ РАБОТАЕТ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21031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ПОКАЗАННЫЙ — РАБОТАЕТ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«мне все пишут»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72200" y="2468880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4652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скрин переписки с датой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127248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31272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«телефон разрывается»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127248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312724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 сообщений на экране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85616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14400" y="378561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«на улице подходят»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72200" y="3785616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46520" y="378561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нечем показать → не говорим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4443984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4400" y="444398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«все ждут курс»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72200" y="4443984"/>
            <a:ext cx="5349240" cy="548640"/>
          </a:xfrm>
          <a:prstGeom prst="roundRect">
            <a:avLst>
              <a:gd name="adj" fmla="val 1333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444398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опроса числом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один день честного сомнения — «боюсь не вытянуть столько людей» — стоит трёх дней уверенности.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ИЗМЕНЕНИЯ № 6 И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Telegram и право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Telegram — не запасной канал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57984"/>
            <a:ext cx="4800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России и СНГ Telegram вышел на первое место по активности авторов.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Канал открывается ДО первого дня прогрева. Аккаунт в соцсети арендованный: база вне его — единственное, что остаётся после запуска.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345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Реклама в Instagram в России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157984"/>
            <a:ext cx="48006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1 сентября 2025 запрещена, включая рекламу у блогеров.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Штрафы: физлицам и самозанятым 2 000–2 500 ₽, ИП 4 000–20 000 ₽, юрлицам 100 000–500 000 ₽. Отвечают обе стороны.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657600"/>
          <a:ext cx="10881360" cy="914400"/>
        </p:xfrm>
        <a:graphic>
          <a:graphicData uri="http://schemas.openxmlformats.org/drawingml/2006/table">
            <a:tbl>
              <a:tblPr/>
              <a:tblGrid>
                <a:gridCol w="6126480"/>
                <a:gridCol w="47548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Действие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Закупка рекламы у блогеров в Instagram под запуск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запрещено в РФ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Таргет в Instagram на РФ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запрещено в РФ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Свой контент в своём блоге о своём продукте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единой позиции ФАС нет → проверить с юристом до старта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Тот же запуск для аудитории вне РФ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ограничение не действует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40080" y="5577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не юридическая консультация. Если среди покупателей есть Россия — до дня 1 задать вопрос юристу.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НЕ НУЖНО — РАСФОКУС УБИВАЕТ ЗАПУСК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рабочие связки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19656"/>
            <a:ext cx="475488" cy="475488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645920" y="168249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Сторис → анкета → обзвон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645920" y="20848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высокий чек. Цена в сторис не называется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0" y="1700784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сторис → ссылка-стикер на анкету → менеджер звонит → оплата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вторая нога: «напиши слово в директ» → отвечаете вручную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88336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2953512"/>
            <a:ext cx="475488" cy="475488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9535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281635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Рилс → интерес → Telegram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645920" y="32186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фоном, не только в запуск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0" y="2834640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рилс → вопрос в комментариях → вы отвечаете →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на Telegram в шапке и в закреплённом комментарии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822192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4087368"/>
            <a:ext cx="475488" cy="475488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0873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645920" y="395020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Опрос → возражение → сторис-ответ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645920" y="43525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день прогрева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0" y="3968496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опрос в сторис → ответы в директ → скрин ответа →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сторис, снимающая возражение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4956048"/>
            <a:ext cx="10881360" cy="1005840"/>
          </a:xfrm>
          <a:prstGeom prst="roundRect">
            <a:avLst>
              <a:gd name="adj" fmla="val 7273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5221224"/>
            <a:ext cx="475488" cy="475488"/>
          </a:xfrm>
          <a:prstGeom prst="ellipse">
            <a:avLst/>
          </a:prstGeom>
          <a:solidFill>
            <a:srgbClr val="2E7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5221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645920" y="50840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→ дожим → следующий оффер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645920" y="5486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живёт всё, чего нельзя в директе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0" y="5102352"/>
            <a:ext cx="5623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и список анкет → посты и звонки →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купил → другая ступень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ОГРАНИЧЕНИЕ РАБОТАЕТ, НО ТОЛЬКО НАСТОЯЩЕЕ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Дефицит: как теперь можно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212080"/>
                <a:gridCol w="566928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Нельзя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«мест очень мало» без числа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«мест 30, потому что каждого я разбираю лично на созвоне»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«продажи могут закрыться сегодня» — и не закрылись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названный срок закрытия, и закрыть в этот срок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второе окно продаж после «больше не будет»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одно окно. Следующий поток — по другой цене, сказать заранее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«отказы по рассрочке, пишите в личку — есть выход»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честный дешёвый тариф без обратной связи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206240"/>
            <a:ext cx="10881360" cy="1554480"/>
          </a:xfrm>
          <a:prstGeom prst="roundRect">
            <a:avLst>
              <a:gd name="adj" fmla="val 4706"/>
            </a:avLst>
          </a:prstGeom>
          <a:solidFill>
            <a:srgbClr val="1A2E4A"/>
          </a:solidFill>
          <a:ln w="12700">
            <a:solidFill>
              <a:srgbClr val="1A2E4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A0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 каждого ограничения должна быть причина, которую можно назвать вслух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60120" y="48006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Причина повышает согласие сама по себе — но только если она настоящая. Одно продлённое окно стоит дороже, чем все места, которые оно добрало: на следующем запуске вам не поверят ни одному сроку.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В ПАРЕ С УСЛОВИЕМ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E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Обещание результата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309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Нельзя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Можно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8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«заговоришь за месяц»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«N часов до уровня X при M занятиях в неделю»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«подойдёт всем»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«не подойдёт тем, кто не готов на M часов в неделю»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A2E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 без условия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F718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результат = формула, где вторая переменная — усилие ученика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B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Обещание с названным условием защищает дважды: ему больше верят при покупке и его труднее оспорить при возврате. Честная оговорка вызывает больше доверия, чем безупречное обещание.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640080" y="4572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2E7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 ДНЯ ПРОГРЕВА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493776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2960" y="4937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Инфоповод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10712" y="493776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593592" y="4937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мысль дня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81344" y="493776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364224" y="4937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Интерактив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951976" y="493776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9134856" y="4937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Доказательство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0080" y="5504688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22960" y="5504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Мостик к продукту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410712" y="5504688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593592" y="5504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Повод зайти в Telegram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81344" y="5504688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364224" y="5504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Ничего чужого в кадре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951976" y="5504688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1F4F7"/>
          </a:solidFill>
          <a:ln w="12700">
            <a:solidFill>
              <a:srgbClr val="F1F4F7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134856" y="55046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E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петля на завтра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Запрещено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371600" y="1691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Заявлять ажиотаж, который нельзя показать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72200" y="1737360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7" name="Text 5"/>
          <p:cNvSpPr/>
          <p:nvPr/>
        </p:nvSpPr>
        <p:spPr>
          <a:xfrm>
            <a:off x="61722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20840" y="16916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Объявлять дефицит, который не собираешься соблюсти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578608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253288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Обещать результат без названного условия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72200" y="2578608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20840" y="253288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Помогать обходить отказ банка по рассрочке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3419856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337413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Выкладывать чужой видеоряд и перезаливы в период запуска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72200" y="3419856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19" name="Text 17"/>
          <p:cNvSpPr/>
          <p:nvPr/>
        </p:nvSpPr>
        <p:spPr>
          <a:xfrm>
            <a:off x="6172200" y="3419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20840" y="337413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Ставить бота на входе в дорогой продукт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22960" y="4261104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71600" y="42153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Начинать прогрев, не собрав возражения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4261104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25" name="Text 23"/>
          <p:cNvSpPr/>
          <p:nvPr/>
        </p:nvSpPr>
        <p:spPr>
          <a:xfrm>
            <a:off x="6172200" y="4261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20840" y="42153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Держать всю аудиторию в одной соцсети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22960" y="5102352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102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371600" y="505663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Называть цену высокочекового продукта в сторис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72200" y="5102352"/>
            <a:ext cx="384048" cy="384048"/>
          </a:xfrm>
          <a:prstGeom prst="ellipse">
            <a:avLst/>
          </a:prstGeom>
          <a:solidFill>
            <a:srgbClr val="B345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5102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720840" y="5056632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E3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Придумывать цифры. Нет цифры — ставится ЗАПОЛНИТЬ и задаётся вопрос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факт про площадку и право — со ссылкой. Всё, что не подтверждено, помечается как гипотеза и может быть оспорено.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Правила прогрева 2026</dc:title>
  <dc:subject>PptxGenJS Presentation</dc:subject>
  <dc:creator>PptxGenJS</dc:creator>
  <cp:lastModifiedBy>PptxGenJS</cp:lastModifiedBy>
  <cp:revision>1</cp:revision>
  <dcterms:created xsi:type="dcterms:W3CDTF">2026-08-23T10:37:59Z</dcterms:created>
  <dcterms:modified xsi:type="dcterms:W3CDTF">2026-08-23T10:37:59Z</dcterms:modified>
</cp:coreProperties>
</file>